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Mural Distribuído com Gossip Push-Pull (Anti-Entropia)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Trabalho 2 — Difusão epidêmica (gossip)</a:t>
            </a:r>
          </a:p>
          <a:p>
            <a:r>
              <a:t>Integrantes: Albano Mendes, Gustavo Cunha, Arthur Bastos</a:t>
            </a:r>
          </a:p>
          <a:p>
            <a:r>
              <a:t>Grupo 7 — Sistemas Distribuídos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Mural de avisos replicado entre 6 processos (A–F), sem servidor central</a:t>
            </a:r>
          </a:p>
          <a:p>
            <a:pPr>
              <a:defRPr sz="1800"/>
            </a:pPr>
            <a:r>
              <a:t>Um aviso criado em qualquer nó deve chegar aos demais</a:t>
            </a:r>
          </a:p>
          <a:p>
            <a:pPr>
              <a:defRPr sz="1800"/>
            </a:pPr>
            <a:r>
              <a:t>Falhas reais: mensagens se perdem, processos param</a:t>
            </a:r>
          </a:p>
          <a:p>
            <a:pPr>
              <a:defRPr sz="1800"/>
            </a:pPr>
            <a:r>
              <a:t>Como espalhar informação de forma simples, robusta e escalável?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Introdução: gossip / difusão epidêmica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Troca probabilística e repetida entre pares; espalha como epidemia</a:t>
            </a:r>
          </a:p>
          <a:p>
            <a:pPr>
              <a:defRPr sz="1800"/>
            </a:pPr>
            <a:r>
              <a:t>Atinge todos os nós em O(log N) rounds (alta probabilidade)</a:t>
            </a:r>
          </a:p>
          <a:p>
            <a:pPr>
              <a:defRPr sz="1800"/>
            </a:pPr>
            <a:r>
              <a:t>Simples, escalável, robusto, convergente, descentralizado</a:t>
            </a:r>
          </a:p>
          <a:p>
            <a:pPr>
              <a:defRPr sz="1800"/>
            </a:pPr>
            <a:r>
              <a:t>Parâmetros: fanout (pares por ciclo) e ciclo/intervalo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 (anti-entropia) vs. SIR (rumor-mongering)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SI (usamos): troca periódica e indefinida; mescla conjuntos; reduz entropia; confiável</a:t>
            </a:r>
          </a:p>
          <a:p>
            <a:pPr>
              <a:defRPr sz="1800"/>
            </a:pPr>
            <a:r>
              <a:t>SI envia o conjunto completo (volume pequeno dispensa otimização)</a:t>
            </a:r>
          </a:p>
          <a:p>
            <a:pPr>
              <a:defRPr sz="1800"/>
            </a:pPr>
            <a:r>
              <a:t>SIR: propaga 'boatos' por alguns rounds e expira (tombstones); menos banda</a:t>
            </a:r>
          </a:p>
          <a:p>
            <a:pPr>
              <a:defRPr sz="1800"/>
            </a:pPr>
            <a:r>
              <a:t>SIR pode não alcançar todos; exige controle de rounds — fora do escopo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push-pull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push (envio) / pull (peço) / push-pull (ambos)</a:t>
            </a:r>
          </a:p>
          <a:p>
            <a:pPr>
              <a:defRPr sz="1800"/>
            </a:pPr>
            <a:r>
              <a:t>Ótimo para disseminar rápido e confiável: push na fase inicial, pull na final</a:t>
            </a:r>
          </a:p>
          <a:p>
            <a:pPr>
              <a:defRPr sz="1800"/>
            </a:pPr>
            <a:r>
              <a:t>Uma troca repara diferenças nos dois sentidos → iniciador e par ficam com a união</a:t>
            </a:r>
          </a:p>
          <a:p>
            <a:pPr>
              <a:defRPr sz="1800"/>
            </a:pPr>
            <a:r>
              <a:t>Refinamento: proposta original era push-only; push-pull é academicamente mais sólido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Protocolo em alto nível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931920" cy="0"/>
          </a:xfrm>
        </p:spPr>
        <p:txBody>
          <a:bodyPr wrap="square"/>
          <a:lstStyle/>
          <a:p>
            <a:pPr>
              <a:defRPr sz="1600"/>
            </a:pPr>
            <a:r>
              <a:t>Mensagem JSON sobre UDP: {type, sender, notices}</a:t>
            </a:r>
          </a:p>
          <a:p>
            <a:pPr>
              <a:defRPr sz="1600"/>
            </a:pPr>
            <a:r>
              <a:t>Ciclo (~300 ms): seleciona 2 pares distintos → 2 trocas GOSSIP→REPLY independentes</a:t>
            </a:r>
          </a:p>
          <a:p>
            <a:pPr>
              <a:defRPr sz="1600"/>
            </a:pPr>
            <a:r>
              <a:t>GOSSIP: merge + responde REPLY; REPLY: merge</a:t>
            </a:r>
          </a:p>
          <a:p>
            <a:pPr>
              <a:defRPr sz="1600"/>
            </a:pPr>
            <a:r>
              <a:t>Aviso imutável origem:contador; merge = união por id (dedup natural)</a:t>
            </a:r>
          </a:p>
        </p:txBody>
      </p:sp>
      <p:pic>
        <p:nvPicPr>
          <p:cNvPr id="4" name="Picture 3" descr="seq_push_p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4480560" cy="2787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Garantias e modelo de falha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Modelo de falha: fail-stop (sem recuperação, estado só em memória) + perda de mensagens</a:t>
            </a:r>
          </a:p>
          <a:p>
            <a:pPr>
              <a:defRPr sz="1800"/>
            </a:pPr>
            <a:r>
              <a:t>Sem ACK/retransmissão dirigida; reparação por trocas periódicas + redundância (fanout)</a:t>
            </a:r>
          </a:p>
          <a:p>
            <a:pPr>
              <a:defRPr sz="1800"/>
            </a:pPr>
            <a:r>
              <a:t>Garantia: consistência eventual (merge idempotente/comutativo reduz entropia)</a:t>
            </a:r>
          </a:p>
          <a:p>
            <a:pPr>
              <a:defRPr sz="1800"/>
            </a:pPr>
            <a:r>
              <a:t>Limites: sem prazo fixo; sem BFT; sem detector de falhas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931920" cy="0"/>
          </a:xfrm>
        </p:spPr>
        <p:txBody>
          <a:bodyPr wrap="square"/>
          <a:lstStyle/>
          <a:p>
            <a:pPr>
              <a:defRPr sz="1600"/>
            </a:pPr>
            <a:r>
              <a:t>Módulos: estado / gossip / comunicacao / monitoramento / aplicacao</a:t>
            </a:r>
          </a:p>
          <a:p>
            <a:pPr>
              <a:defRPr sz="1600"/>
            </a:pPr>
            <a:r>
              <a:t>Um event loop asyncio por nó; NoticeStore único compartilhado</a:t>
            </a:r>
          </a:p>
          <a:p>
            <a:pPr>
              <a:defRPr sz="1600"/>
            </a:pPr>
            <a:r>
              <a:t>Painel observer read-only em porta de status separada do gossip</a:t>
            </a:r>
          </a:p>
          <a:p>
            <a:pPr>
              <a:defRPr sz="1600"/>
            </a:pPr>
            <a:r>
              <a:t>Testes: unidade + integração + e2e (CA-01..CA-08) — todos verdes</a:t>
            </a:r>
          </a:p>
        </p:txBody>
      </p:sp>
      <p:pic>
        <p:nvPicPr>
          <p:cNvPr id="4" name="Picture 3" descr="arch_asyn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4480560" cy="25887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ao vivo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3931920" cy="0"/>
          </a:xfrm>
        </p:spPr>
        <p:txBody>
          <a:bodyPr wrap="square"/>
          <a:lstStyle/>
          <a:p>
            <a:pPr>
              <a:defRPr sz="1600"/>
            </a:pPr>
            <a:r>
              <a:t>1) Subir 6 nós + painel (vazio)</a:t>
            </a:r>
          </a:p>
          <a:p>
            <a:pPr>
              <a:defRPr sz="1600"/>
            </a:pPr>
            <a:r>
              <a:t>2) post em A → A:1 indo a 6/6</a:t>
            </a:r>
          </a:p>
          <a:p>
            <a:pPr>
              <a:defRPr sz="1600"/>
            </a:pPr>
            <a:r>
              <a:t>3) post em C → dois avisos convivendo (dedup)</a:t>
            </a:r>
          </a:p>
          <a:p>
            <a:pPr>
              <a:defRPr sz="1600"/>
            </a:pPr>
            <a:r>
              <a:t>4) loss=0.3 → DESCARTE_SIMULADO e convergência mais lenta, porém completa</a:t>
            </a:r>
          </a:p>
          <a:p>
            <a:pPr>
              <a:defRPr sz="1600"/>
            </a:pPr>
            <a:r>
              <a:t>5) Ctrl+C em F → painel 'F (indisponível)'; A–E seguem convergindo</a:t>
            </a:r>
          </a:p>
          <a:p>
            <a:pPr>
              <a:defRPr sz="1600"/>
            </a:pPr>
            <a:r>
              <a:t>6) Encerrar o painel → gossip dos nós continua</a:t>
            </a:r>
          </a:p>
        </p:txBody>
      </p:sp>
      <p:pic>
        <p:nvPicPr>
          <p:cNvPr id="4" name="Picture 3" descr="topo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4480560" cy="25887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Gossip push-pull: simples, robusto, convergente; ótimo para disseminação</a:t>
            </a:r>
          </a:p>
          <a:p>
            <a:pPr>
              <a:defRPr sz="1800"/>
            </a:pPr>
            <a:r>
              <a:t>Trade-offs: consistência eventual, banda redundante, difícil de depurar</a:t>
            </a:r>
          </a:p>
          <a:p>
            <a:pPr>
              <a:defRPr sz="1800"/>
            </a:pPr>
            <a:r>
              <a:t>Perguntas (cada integrante responde)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